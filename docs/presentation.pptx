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everyone. Today, I want to share a story of how we can accelerate scientific research by collaborating with AI coding agents.</a:t>
            </a:r>
          </a:p>
          <a:p/>
          <a:p>
            <a:r>
              <a:t>As researchers, we often spend more time writing web dashboards, optimization scripts, and troubleshooting file limits than actually analyzing scientific data.</a:t>
            </a:r>
          </a:p>
          <a:p/>
          <a:p>
            <a:r>
              <a:t>To address this, I built FragV3—a tool for mass spectrometry that generates all potential chemical fragments by breaking molecular bonds and views them in an interactive 3D interface.</a:t>
            </a:r>
          </a:p>
          <a:p/>
          <a:p>
            <a:r>
              <a:t>But I didn't write this code alone. I partnered with Google Antigravity, an AI agentic coding assistant. Today, I'll show you how this collaboration worked, what FragV3 does, and how AI can become your virtual full-stack research engineer.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 spectrometry, identifying unknown peaks requires matching observed masses to potential fragments.</a:t>
            </a:r>
          </a:p>
          <a:p/>
          <a:p>
            <a:r>
              <a:t>If we cleave chemical bonds, a molecule with 20 bonds has 2^20 or over a million possible fragment combinations. For larger molecules, this becomes a computational bottleneck.</a:t>
            </a:r>
          </a:p>
          <a:p/>
          <a:p>
            <a:r>
              <a:t>FragV3 solves this by:</a:t>
            </a:r>
          </a:p>
          <a:p>
            <a:r>
              <a:t>1. Taking a SMILES chemical formula,</a:t>
            </a:r>
          </a:p>
          <a:p>
            <a:r>
              <a:t>2. Using RDKit to construct molecular graphs and generate 3D coordinates, and</a:t>
            </a:r>
          </a:p>
          <a:p>
            <a:r>
              <a:t>3. Running multi-core parallel computing to perform bond cleavage combinations.</a:t>
            </a:r>
          </a:p>
          <a:p/>
          <a:p>
            <a:r>
              <a:t>However, translating this heavy Python backend into a fast, user-friendly 3D web dashboard presented major engineering challenges. That is where the AI came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Many people think AI code assistants are just for basic autocompletion. But Google Antigravity acts as an autonomous engineer.</a:t>
            </a:r>
          </a:p>
          <a:p/>
          <a:p>
            <a:r>
              <a:t>When we ran FragV3 on large molecules, we generated files exceeding 100MB. GitHub does not allow files this size, which broke our GitHub Pages web deployment.</a:t>
            </a:r>
          </a:p>
          <a:p/>
          <a:p>
            <a:r>
              <a:t>Instead of me spending hours writing chunking logic, I asked the AI. Antigravity autonomously modified the Python backend to automatically split large JSON arrays into sub-100MB files, and rewrote the browser-side JavaScript to dynamically fetch, stream, and reassemble these chunks in memory.</a:t>
            </a:r>
          </a:p>
          <a:p/>
          <a:p>
            <a:r>
              <a:t>The result? We maintained 100% of our fragment library on GitHub Pages with zero manual file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Another area where AI excelled was translating high-level feedback into user experience.</a:t>
            </a:r>
          </a:p>
          <a:p/>
          <a:p>
            <a:r>
              <a:t>Initially, searching for masses in the web interface returned a flat, chaotic list of hundreds of matches. I told the AI I wanted a clean dropdown layout.</a:t>
            </a:r>
          </a:p>
          <a:p/>
          <a:p>
            <a:r>
              <a:t>Antigravity restructured the UI: it grouped identical formulas together, nested individual coordinate matches, and updated the 3D Mol viewer instantly when a match was clicked.</a:t>
            </a:r>
          </a:p>
          <a:p/>
          <a:p>
            <a:r>
              <a:t>It also improved our terminal interface. Since combinatorial calculations can take time, the AI added real-time ETA estimates directly next to our progress bar so researchers know exactly how long a run will take.</a:t>
            </a:r>
          </a:p>
          <a:p/>
          <a:p>
            <a:r>
              <a:t>The AI handled the CSS styling, HTML events, and Python loops, letting me focus on the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using AI tools like Google Antigravity in research is not about replacing scientists—it is about magnifying their capabilities.</a:t>
            </a:r>
          </a:p>
          <a:p/>
          <a:p>
            <a:r>
              <a:t>What would have taken days of full-stack web development and performance debugging was completed in minutes through interactive dialogue.</a:t>
            </a:r>
          </a:p>
          <a:p/>
          <a:p>
            <a:r>
              <a:t>AI allows researchers to build high-quality, production-grade tools and share them globally.</a:t>
            </a:r>
          </a:p>
          <a:p/>
          <a:p>
            <a:r>
              <a:t>I encourage every researcher here to stop fighting with syntax, file size limits, or CSS layouts. Use AI as your co-pilot, and let it handle the engineering so you can focus on the next discovery.</a:t>
            </a:r>
          </a:p>
          <a:p/>
          <a:p>
            <a:r>
              <a:t>Thank you, and I am happy to show a quick demo of FragV3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Outfit"/>
              </a:defRPr>
            </a:pPr>
            <a:r>
              <a:t>MASS SPECTROMETRY RESEARCH  •  AI WORKFLOW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Outfit"/>
              </a:defRPr>
            </a:pPr>
            <a:r>
              <a:t>Accelerating Research with Agentic AI</a:t>
            </a:r>
          </a:p>
          <a:p>
            <a:pPr>
              <a:spcBef>
                <a:spcPts val="1000"/>
              </a:spcBef>
              <a:defRPr sz="2200">
                <a:solidFill>
                  <a:srgbClr val="6366F1"/>
                </a:solidFill>
                <a:latin typeface="Outfit"/>
              </a:defRPr>
            </a:pPr>
            <a:r>
              <a:t>Building FragV3 with Google Antigravity as a Co-Pilot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Outfit"/>
              </a:defRPr>
            </a:pPr>
            <a:r>
              <a:t>Collaborating with an AI coding agent to transition a raw scientific calculator into a high-performance interactive 3D fragment viewer dashboard.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Outfit"/>
              </a:defRPr>
            </a:pPr>
            <a:r>
              <a:t>FragV3</a:t>
            </a:r>
            <a:r>
              <a:rPr>
                <a:solidFill>
                  <a:srgbClr val="0EA5E9"/>
                </a:solidFill>
              </a:rPr>
              <a:t>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8552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Outfit"/>
              </a:defRPr>
            </a:pPr>
            <a:r>
              <a:t>Slide 2 of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The Combinatorial Cleavage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0EA5E9"/>
                </a:solidFill>
                <a:latin typeface="Outfit"/>
              </a:defRPr>
            </a:pPr>
            <a:r>
              <a:t>Exponential Cleavage Space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  <a:latin typeface="Outfit"/>
              </a:defRPr>
            </a:pPr>
            <a:r>
              <a:t>• Mass spectrometry compound identification cleaves chemical bonds and checks resulting fragment masses against measured peaks.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  <a:latin typeface="Outfit"/>
              </a:defRPr>
            </a:pPr>
            <a:r>
              <a:t>• Complexity scales exponentially: breaking N bonds creates O(2^N) possible sub-compounds.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  <a:latin typeface="Outfit"/>
              </a:defRPr>
            </a:pPr>
            <a:r>
              <a:t>• Constraints are critical: fragments must respect valency rules and chemical stability criteria.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  <a:latin typeface="Outfit"/>
              </a:defRPr>
            </a:pPr>
            <a:r>
              <a:t>• Engineering overhead: writing multi-core optimization, parallel processing, and visualization libraries is a workflow bottleneck.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0"/>
              </a:spcAft>
              <a:defRPr sz="2000" b="1">
                <a:solidFill>
                  <a:srgbClr val="F8FAFC"/>
                </a:solidFill>
                <a:latin typeface="Outfit"/>
              </a:defRPr>
            </a:pPr>
            <a:r>
              <a:t>Cleavage Simulation: C9H11IN2O6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Outfit"/>
              </a:defRPr>
            </a:pPr>
            <a:r>
              <a:t>1. Input: SMILES formula (e.g. 5-Iodouracil / C9H11IN2O6)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Outfit"/>
              </a:defRPr>
            </a:pPr>
            <a:r>
              <a:t>2. Node Construction: Graph built via RDKit with 3D coordinate generation fallback.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Outfit"/>
              </a:defRPr>
            </a:pPr>
            <a:r>
              <a:t>3. Combinatorial Cleavage: Evaluates up to N breaks concurrently.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Outfit"/>
              </a:defRPr>
            </a:pPr>
            <a:r>
              <a:t>4. Output: Accurate fragment formulas and masses stored for matching.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Outfit"/>
              </a:defRPr>
            </a:pPr>
            <a:r>
              <a:t>FragV3</a:t>
            </a:r>
            <a:r>
              <a:rPr>
                <a:solidFill>
                  <a:srgbClr val="0EA5E9"/>
                </a:solidFill>
              </a:rPr>
              <a:t>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8552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Outfit"/>
              </a:defRPr>
            </a:pPr>
            <a:r>
              <a:t>Slide 3 of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Overcoming the 100MB GitHub File Limit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0"/>
              </a:spcAft>
              <a:defRPr sz="2000" b="1">
                <a:solidFill>
                  <a:srgbClr val="EF4444"/>
                </a:solidFill>
                <a:latin typeface="Outfit"/>
              </a:defRPr>
            </a:pPr>
            <a:r>
              <a:t>The Constraint: Host Limit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Outfit"/>
              </a:defRPr>
            </a:pPr>
            <a:r>
              <a:t>• GitHub enforces a strict 100MB maximum file size limit.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Outfit"/>
              </a:defRPr>
            </a:pPr>
            <a:r>
              <a:t>• Generating extensive fragment combinations for complex molecules creates caching JSON arrays exceeding 100MB.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Outfit"/>
              </a:defRPr>
            </a:pPr>
            <a:r>
              <a:t>• This completely broke standard deployment pipelines, preventing the static hosting of the 3D Molecular Viewer.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0"/>
              </a:spcAft>
              <a:defRPr sz="2000" b="1">
                <a:solidFill>
                  <a:srgbClr val="10B981"/>
                </a:solidFill>
                <a:latin typeface="Outfit"/>
              </a:defRPr>
            </a:pPr>
            <a:r>
              <a:t>The AI Solution: Dynamic Chunking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Outfit"/>
              </a:defRPr>
            </a:pPr>
            <a:r>
              <a:t>• Google Antigravity autonomously diagnosed the restriction and coded a dual-ended chunking system: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Outfit"/>
              </a:defRPr>
            </a:pPr>
            <a:r>
              <a:t>• Python backend: Splices massive output cache files into small, indexed sub-100MB arrays.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Outfit"/>
              </a:defRPr>
            </a:pPr>
            <a:r>
              <a:t>• Web JS frontend: Performs concurrent asynchronous fetching and dynamic in-memory reassembly.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Outfit"/>
              </a:defRPr>
            </a:pPr>
            <a:r>
              <a:t>• Result: High-fidelity molecule viewer runs entirely on GitHub Pages without manual file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Outfit"/>
              </a:defRPr>
            </a:pPr>
            <a:r>
              <a:t>FragV3</a:t>
            </a:r>
            <a:r>
              <a:rPr>
                <a:solidFill>
                  <a:srgbClr val="0EA5E9"/>
                </a:solidFill>
              </a:rPr>
              <a:t>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8552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Outfit"/>
              </a:defRPr>
            </a:pPr>
            <a:r>
              <a:t>Slide 4 of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Crafting an Elegant Web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1148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0"/>
              </a:spcAft>
              <a:defRPr sz="1800" b="1">
                <a:solidFill>
                  <a:srgbClr val="6366F1"/>
                </a:solidFill>
                <a:latin typeface="Outfit"/>
              </a:defRPr>
            </a:pPr>
            <a:r>
              <a:t>User Experience (UX) Redesign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  <a:latin typeface="Outfit"/>
              </a:defRPr>
            </a:pPr>
            <a:r>
              <a:t>• Transitioned from a flat, unmanageable table search display to structured, grouped nested menus.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  <a:latin typeface="Outfit"/>
              </a:defRPr>
            </a:pPr>
            <a:r>
              <a:t>• Group hierarchy: Molecule Name ➔ Exact Formula ➔ Match Number list.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  <a:latin typeface="Outfit"/>
              </a:defRPr>
            </a:pPr>
            <a:r>
              <a:t>• Integrated interactive triggers: clicking any match highlights coordinates in 3D.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828800"/>
            <a:ext cx="685800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EA5E9"/>
                </a:solidFill>
                <a:latin typeface="Outfit"/>
              </a:defRPr>
            </a:pPr>
            <a:r>
              <a:t>Interactive 3D highlighting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Connecting click handlers to the 3Dmol.js WebGL canvas. When a match is clicked, the specific cleaved molecular structure is dynamically highlighted in real-time.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023360"/>
            <a:ext cx="685800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10B981"/>
                </a:solidFill>
                <a:latin typeface="Outfit"/>
              </a:defRPr>
            </a:pPr>
            <a:r>
              <a:t>CLI Progress Bar &amp; Live ETA tracker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Combinatorial cleavage tasks on heavy datasets can run for hours. Google Antigravity added live multithreaded calculation velocity gauges showing remaining time alongside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Outfit"/>
              </a:defRPr>
            </a:pPr>
            <a:r>
              <a:t>FragV3</a:t>
            </a:r>
            <a:r>
              <a:rPr>
                <a:solidFill>
                  <a:srgbClr val="0EA5E9"/>
                </a:solidFill>
              </a:rPr>
              <a:t>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8552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Outfit"/>
              </a:defRPr>
            </a:pPr>
            <a:r>
              <a:t>Slide 5 of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Empowering Scientists, Eliminating Overhead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457200"/>
          <a:lstStyle/>
          <a:p>
            <a:pPr algn="ctr">
              <a:spcAft>
                <a:spcPts val="3000"/>
              </a:spcAft>
              <a:defRPr sz="2400" b="1" i="1">
                <a:solidFill>
                  <a:srgbClr val="F8FAFC"/>
                </a:solidFill>
                <a:latin typeface="Outfit"/>
              </a:defRPr>
            </a:pPr>
            <a:r>
              <a:t>"AI is not just an autocomplete tool; it is a full-stack engineering collaborator for the modern laboratory."</a:t>
            </a:r>
          </a:p>
          <a:p>
            <a:pPr>
              <a:defRPr sz="1600">
                <a:solidFill>
                  <a:srgbClr val="0EA5E9"/>
                </a:solidFill>
                <a:latin typeface="Outfit"/>
              </a:defRPr>
            </a:pPr>
            <a:r>
              <a:t>— Ouassim Hocine Hafiani, Author of FragV3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0"/>
              </a:spcAft>
              <a:defRPr sz="2000" b="1">
                <a:solidFill>
                  <a:srgbClr val="0EA5E9"/>
                </a:solidFill>
                <a:latin typeface="Outfit"/>
              </a:defRPr>
            </a:pPr>
            <a:r>
              <a:t>Key Takeaways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  <a:latin typeface="Outfit"/>
              </a:defRPr>
            </a:pPr>
            <a:r>
              <a:t>✦ Focus on Core Science: Delegate full-stack design, file limits, and scripting optimizations to the AI agent.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  <a:latin typeface="Outfit"/>
              </a:defRPr>
            </a:pPr>
            <a:r>
              <a:t>✦ Rapid Prototyping: Go from conceptual mathematical formulas to responsive dashboards in hours, not weeks.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  <a:latin typeface="Outfit"/>
              </a:defRPr>
            </a:pPr>
            <a:r>
              <a:t>✦ Interactive Debugging: Collaborate iteratively to solve complex platform boundaries like GitHub limits or 3Dmol visualization bugs.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  <a:latin typeface="Outfit"/>
              </a:defRPr>
            </a:pPr>
            <a:r>
              <a:t>✦ Call to Action: Adopt agentic AI tools in your research workflows to multiply development speeds and build powerful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